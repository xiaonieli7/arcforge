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2563EB"/>
            </a:solidFill>
            <a:ln>
              <a:solidFill>
                <a:srgbClr val="2563EB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82.0</c:v>
                </c:pt>
                <c:pt idx="1">
                  <c:v>96.0</c:v>
                </c:pt>
                <c:pt idx="2">
                  <c:v>111.0</c:v>
                </c:pt>
                <c:pt idx="3">
                  <c:v>128.0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Verified</c:v>
                </c:pt>
              </c:strCache>
            </c:strRef>
          </c:tx>
          <c:spPr>
            <a:solidFill>
              <a:srgbClr val="0F172A"/>
            </a:solidFill>
            <a:ln>
              <a:solidFill>
                <a:srgbClr val="0F172A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70.0</c:v>
                </c:pt>
                <c:pt idx="1">
                  <c:v>84.0</c:v>
                </c:pt>
                <c:pt idx="2">
                  <c:v>101.0</c:v>
                </c:pt>
                <c:pt idx="3">
                  <c:v>120.0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1115568"/>
            <a:ext cx="109728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1078992"/>
            <a:ext cx="99669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QUARTERLY OPERATIONS</a:t>
            </a:r>
          </a:p>
        </p:txBody>
      </p:sp>
      <p:sp>
        <p:nvSpPr>
          <p:cNvPr id="4" name="ArcForge Title"/>
          <p:cNvSpPr txBox="1"/>
          <p:nvPr/>
        </p:nvSpPr>
        <p:spPr>
          <a:xfrm>
            <a:off x="1060704" y="1572768"/>
            <a:ext cx="9966960" cy="1828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Microsoft YaHei"/>
              </a:rPr>
              <a:t>From goals to reviewable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749039"/>
            <a:ext cx="905256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Microsoft YaHei"/>
              </a:rPr>
              <a:t>A concise operating review for a local-first Windows Work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6099048"/>
            <a:ext cx="91440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ArcForge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Forge Title"/>
          <p:cNvSpPr txBox="1"/>
          <p:nvPr/>
        </p:nvSpPr>
        <p:spPr>
          <a:xfrm>
            <a:off x="640080" y="347472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Microsoft YaHei"/>
              </a:rPr>
              <a:t>Quarter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607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YaHei"/>
              </a:rPr>
              <a:t>Representative example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09928"/>
            <a:ext cx="2562606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09928"/>
            <a:ext cx="2562606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212848"/>
            <a:ext cx="2050541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145536"/>
            <a:ext cx="2050541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Completed work items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206240"/>
            <a:ext cx="2050541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Microsoft YaHei"/>
              </a:rPr>
              <a:t>+18%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2141" y="1709928"/>
            <a:ext cx="2562606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2141" y="1709928"/>
            <a:ext cx="2562606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8174" y="2212848"/>
            <a:ext cx="2050541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94%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8174" y="3145536"/>
            <a:ext cx="2050541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Verified deliverables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8174" y="4206240"/>
            <a:ext cx="2050541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Microsoft YaHei"/>
              </a:rPr>
              <a:t>+7 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4203" y="1709928"/>
            <a:ext cx="2562606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4203" y="1709928"/>
            <a:ext cx="2562606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0236" y="2212848"/>
            <a:ext cx="2050541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1,842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0236" y="3145536"/>
            <a:ext cx="2050541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Local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0236" y="4206240"/>
            <a:ext cx="2050541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Microsoft YaHei"/>
              </a:rPr>
              <a:t>+24%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6265" y="1709928"/>
            <a:ext cx="2562606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86265" y="1709928"/>
            <a:ext cx="2562606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42297" y="2212848"/>
            <a:ext cx="2050541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2297" y="3145536"/>
            <a:ext cx="2050541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Approval exceptions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2297" y="4206240"/>
            <a:ext cx="2050541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Microsoft YaHei"/>
              </a:rPr>
              <a:t>-40%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345936"/>
            <a:ext cx="10908792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09944"/>
            <a:ext cx="99669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ArcForge · Reviewable work, verified locally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6409944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Forge Title"/>
          <p:cNvSpPr txBox="1"/>
          <p:nvPr/>
        </p:nvSpPr>
        <p:spPr>
          <a:xfrm>
            <a:off x="640080" y="347472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Microsoft YaHei"/>
              </a:rPr>
              <a:t>Delivery volume increased steadily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607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YaHei"/>
              </a:rPr>
              <a:t>Completed and verified work items by quarter</a:t>
            </a:r>
          </a:p>
        </p:txBody>
      </p:sp>
      <p:graphicFrame>
        <p:nvGraphicFramePr>
          <p:cNvPr id="5" name="ArcForge Chart"/>
          <p:cNvGraphicFramePr>
            <a:graphicFrameLocks noGrp="1"/>
          </p:cNvGraphicFramePr>
          <p:nvPr/>
        </p:nvGraphicFramePr>
        <p:xfrm>
          <a:off x="749808" y="1499616"/>
          <a:ext cx="10680192" cy="46451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6345936"/>
            <a:ext cx="10908792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9944"/>
            <a:ext cx="99669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ArcForge · Reviewable work, verified locally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09944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Forge Title"/>
          <p:cNvSpPr txBox="1"/>
          <p:nvPr/>
        </p:nvSpPr>
        <p:spPr>
          <a:xfrm>
            <a:off x="640080" y="347472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Microsoft YaHei"/>
              </a:rPr>
              <a:t>What changed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61872"/>
            <a:ext cx="5394960" cy="44988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508760"/>
            <a:ext cx="4663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Microsoft YaHei"/>
              </a:rPr>
              <a:t>Capabilities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28600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25296" y="2121408"/>
            <a:ext cx="4352544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Microsoft YaHei"/>
              </a:rPr>
              <a:t>Structured local tool execution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94436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2779776"/>
            <a:ext cx="4352544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Microsoft YaHei"/>
              </a:rPr>
              <a:t>Checkpointed conversation context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360273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25296" y="3438144"/>
            <a:ext cx="4352544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Microsoft YaHei"/>
              </a:rPr>
              <a:t>Isolated sub-agent worktrees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261872"/>
            <a:ext cx="5394960" cy="44988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46634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Microsoft YaHei"/>
              </a:rPr>
              <a:t>Controls</a:t>
            </a:r>
          </a:p>
        </p:txBody>
      </p:sp>
      <p:sp>
        <p:nvSpPr>
          <p:cNvPr id="14" name="Oval 13"/>
          <p:cNvSpPr/>
          <p:nvPr/>
        </p:nvSpPr>
        <p:spPr>
          <a:xfrm>
            <a:off x="6510528" y="228600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9984" y="2121408"/>
            <a:ext cx="4352544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Microsoft YaHei"/>
              </a:rPr>
              <a:t>Workspace path boundaries</a:t>
            </a:r>
          </a:p>
        </p:txBody>
      </p:sp>
      <p:sp>
        <p:nvSpPr>
          <p:cNvPr id="16" name="Oval 15"/>
          <p:cNvSpPr/>
          <p:nvPr/>
        </p:nvSpPr>
        <p:spPr>
          <a:xfrm>
            <a:off x="6510528" y="294436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9984" y="2779776"/>
            <a:ext cx="4352544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Microsoft YaHei"/>
              </a:rPr>
              <a:t>Stale-write protection</a:t>
            </a:r>
          </a:p>
        </p:txBody>
      </p:sp>
      <p:sp>
        <p:nvSpPr>
          <p:cNvPr id="18" name="Oval 17"/>
          <p:cNvSpPr/>
          <p:nvPr/>
        </p:nvSpPr>
        <p:spPr>
          <a:xfrm>
            <a:off x="6510528" y="360273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9984" y="3438144"/>
            <a:ext cx="4352544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Microsoft YaHei"/>
              </a:rPr>
              <a:t>Review evidence attached to outputs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345936"/>
            <a:ext cx="10908792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09944"/>
            <a:ext cx="99669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ArcForge · Reviewable work, verified locally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6409944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Forge Title"/>
          <p:cNvSpPr txBox="1"/>
          <p:nvPr/>
        </p:nvSpPr>
        <p:spPr>
          <a:xfrm>
            <a:off x="640080" y="347472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Microsoft YaHei"/>
              </a:rPr>
              <a:t>Next-quarter priorities</a:t>
            </a:r>
          </a:p>
        </p:txBody>
      </p:sp>
      <p:graphicFrame>
        <p:nvGraphicFramePr>
          <p:cNvPr id="4" name="ArcForge Table"/>
          <p:cNvGraphicFramePr>
            <a:graphicFrameLocks noGrp="1"/>
          </p:cNvGraphicFramePr>
          <p:nvPr/>
        </p:nvGraphicFramePr>
        <p:xfrm>
          <a:off x="640080" y="1353312"/>
          <a:ext cx="1090879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287"/>
                <a:gridCol w="5161148"/>
                <a:gridCol w="2345976"/>
                <a:gridCol w="2111379"/>
              </a:tblGrid>
              <a:tr h="93634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Microsoft YaHei"/>
                        </a:rPr>
                        <a:t>Priority</a:t>
                      </a:r>
                    </a:p>
                  </a:txBody>
                  <a:tcPr marL="73152" marR="73152" marT="45720" marB="45720">
                    <a:solidFill>
                      <a:srgbClr val="0F172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Microsoft YaHei"/>
                        </a:rPr>
                        <a:t>Outcome</a:t>
                      </a:r>
                    </a:p>
                  </a:txBody>
                  <a:tcPr marL="73152" marR="73152" marT="45720" marB="45720">
                    <a:solidFill>
                      <a:srgbClr val="0F172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Microsoft YaHei"/>
                        </a:rPr>
                        <a:t>Owner</a:t>
                      </a:r>
                    </a:p>
                  </a:txBody>
                  <a:tcPr marL="73152" marR="73152" marT="45720" marB="45720">
                    <a:solidFill>
                      <a:srgbClr val="0F172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Microsoft YaHei"/>
                        </a:rPr>
                        <a:t>Status</a:t>
                      </a:r>
                    </a:p>
                  </a:txBody>
                  <a:tcPr marL="73152" marR="73152" marT="45720" marB="45720">
                    <a:solidFill>
                      <a:srgbClr val="0F172A"/>
                    </a:solidFill>
                  </a:tcPr>
                </a:tc>
              </a:tr>
              <a:tr h="936345">
                <a:tc>
                  <a:txBody>
                    <a:bodyPr wrap="square" anchor="ctr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P0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Tool authorization policy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Platform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Planned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936345">
                <a:tc>
                  <a:txBody>
                    <a:bodyPr wrap="square" anchor="ctr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P1</a:t>
                      </a:r>
                    </a:p>
                  </a:txBody>
                  <a:tcPr marL="73152" marR="73152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Office deliverable skills</a:t>
                      </a:r>
                    </a:p>
                  </a:txBody>
                  <a:tcPr marL="73152" marR="73152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Product</a:t>
                      </a:r>
                    </a:p>
                  </a:txBody>
                  <a:tcPr marL="73152" marR="73152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In progress</a:t>
                      </a:r>
                    </a:p>
                  </a:txBody>
                  <a:tcPr marL="73152" marR="73152" marT="45720" marB="45720">
                    <a:solidFill>
                      <a:srgbClr val="F1F5F9"/>
                    </a:solidFill>
                  </a:tcPr>
                </a:tc>
              </a:tr>
              <a:tr h="936345">
                <a:tc>
                  <a:txBody>
                    <a:bodyPr wrap="square" anchor="ctr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P1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PPT visual verification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Desktop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Planned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936348">
                <a:tc>
                  <a:txBody>
                    <a:bodyPr wrap="square" anchor="ctr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P2</a:t>
                      </a:r>
                    </a:p>
                  </a:txBody>
                  <a:tcPr marL="73152" marR="73152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Evidence export</a:t>
                      </a:r>
                    </a:p>
                  </a:txBody>
                  <a:tcPr marL="73152" marR="73152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Agent</a:t>
                      </a:r>
                    </a:p>
                  </a:txBody>
                  <a:tcPr marL="73152" marR="73152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Discovery</a:t>
                      </a:r>
                    </a:p>
                  </a:txBody>
                  <a:tcPr marL="73152" marR="73152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6345936"/>
            <a:ext cx="10908792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9944"/>
            <a:ext cx="99669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ArcForge · Reviewable work, verified locally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09944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1143000"/>
            <a:ext cx="91440" cy="4206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Forge Title"/>
          <p:cNvSpPr txBox="1"/>
          <p:nvPr/>
        </p:nvSpPr>
        <p:spPr>
          <a:xfrm>
            <a:off x="1115568" y="1508760"/>
            <a:ext cx="9692640" cy="1508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Microsoft YaHei"/>
              </a:rPr>
              <a:t>Build locally. Review clearly. Act deliberately.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3401568"/>
            <a:ext cx="9052560" cy="841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Microsoft YaHei"/>
              </a:rPr>
              <a:t>ArcForge turns goals and context into inspectable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ArcForge Quarterly Operations</dc:title>
  <dc:subject>Local-first work agent operating review</dc:subject>
  <dc:creator>ArcForge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